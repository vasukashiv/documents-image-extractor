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embeddedFontLst>
    <p:embeddedFont>
      <p:font typeface="Franklin Gothic" panose="020B0604020202020204" charset="0"/>
      <p:bold r:id="rId12"/>
    </p:embeddedFont>
    <p:embeddedFont>
      <p:font typeface="Roboto Medium" panose="020B0604020202020204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Roboto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14C9A5-1221-4D90-9E97-D111E224DFD0}">
  <a:tblStyle styleId="{0514C9A5-1221-4D90-9E97-D111E224DFD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06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85" y="53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86924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4701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8700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856faba5b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856faba5b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g2856faba5b4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63637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856faba5b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856faba5b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856faba5b4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0203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856faba5b4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856faba5b4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2856faba5b4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4326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856faba5b4_0_2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856faba5b4_0_2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2856faba5b4_0_22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969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56faba5b4_0_2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856faba5b4_0_2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2856faba5b4_0_2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4295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856faba5b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856faba5b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g2856faba5b4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1223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856faba5b4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856faba5b4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g2856faba5b4_0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62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0"/>
            <a:ext cx="9152529" cy="736270"/>
          </a:xfrm>
          <a:prstGeom prst="rect">
            <a:avLst/>
          </a:prstGeom>
          <a:gradFill>
            <a:gsLst>
              <a:gs pos="0">
                <a:srgbClr val="166018"/>
              </a:gs>
              <a:gs pos="1000">
                <a:srgbClr val="166018"/>
              </a:gs>
              <a:gs pos="52000">
                <a:srgbClr val="00B0F0"/>
              </a:gs>
              <a:gs pos="100000">
                <a:srgbClr val="17365D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INDIAN INSTITUTE OF TECHNOLOGY ROORKEE</a:t>
            </a:r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7895" y="-1281"/>
            <a:ext cx="755828" cy="732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06150"/>
            <a:ext cx="9133727" cy="185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4285" y="-1480"/>
            <a:ext cx="979715" cy="961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3"/>
          <p:cNvCxnSpPr/>
          <p:nvPr/>
        </p:nvCxnSpPr>
        <p:spPr>
          <a:xfrm>
            <a:off x="0" y="990600"/>
            <a:ext cx="9144000" cy="0"/>
          </a:xfrm>
          <a:prstGeom prst="straightConnector1">
            <a:avLst/>
          </a:prstGeom>
          <a:noFill/>
          <a:ln w="50800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3"/>
          <p:cNvCxnSpPr/>
          <p:nvPr/>
        </p:nvCxnSpPr>
        <p:spPr>
          <a:xfrm>
            <a:off x="0" y="6756400"/>
            <a:ext cx="9144000" cy="0"/>
          </a:xfrm>
          <a:prstGeom prst="straightConnector1">
            <a:avLst/>
          </a:prstGeom>
          <a:noFill/>
          <a:ln w="222250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73072" y="2118212"/>
            <a:ext cx="5321656" cy="351057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8382001" y="6607628"/>
            <a:ext cx="762000" cy="19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1"/>
          </p:nvPr>
        </p:nvSpPr>
        <p:spPr>
          <a:xfrm>
            <a:off x="180653" y="1173984"/>
            <a:ext cx="8768137" cy="522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Slide" type="twoTxTwoObj">
  <p:cSld name="TWO_OBJECTS_WITH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3072" y="2118212"/>
            <a:ext cx="5321656" cy="35105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80654" y="1132413"/>
            <a:ext cx="4288604" cy="48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2"/>
          </p:nvPr>
        </p:nvSpPr>
        <p:spPr>
          <a:xfrm>
            <a:off x="180654" y="1613043"/>
            <a:ext cx="4288604" cy="47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3"/>
          </p:nvPr>
        </p:nvSpPr>
        <p:spPr>
          <a:xfrm>
            <a:off x="4645025" y="1125166"/>
            <a:ext cx="4242121" cy="487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4"/>
          </p:nvPr>
        </p:nvSpPr>
        <p:spPr>
          <a:xfrm>
            <a:off x="4645025" y="1613043"/>
            <a:ext cx="4242121" cy="4784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4285" y="-1480"/>
            <a:ext cx="979715" cy="961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p4"/>
          <p:cNvCxnSpPr/>
          <p:nvPr/>
        </p:nvCxnSpPr>
        <p:spPr>
          <a:xfrm>
            <a:off x="0" y="990600"/>
            <a:ext cx="9144000" cy="0"/>
          </a:xfrm>
          <a:prstGeom prst="straightConnector1">
            <a:avLst/>
          </a:prstGeom>
          <a:noFill/>
          <a:ln w="50800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4"/>
          <p:cNvCxnSpPr/>
          <p:nvPr/>
        </p:nvCxnSpPr>
        <p:spPr>
          <a:xfrm>
            <a:off x="0" y="6756400"/>
            <a:ext cx="9144000" cy="0"/>
          </a:xfrm>
          <a:prstGeom prst="straightConnector1">
            <a:avLst/>
          </a:prstGeom>
          <a:noFill/>
          <a:ln w="222250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8" name="Google Shape;38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/>
        </p:nvSpPr>
        <p:spPr>
          <a:xfrm>
            <a:off x="8382001" y="6607628"/>
            <a:ext cx="762000" cy="19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73072" y="2118212"/>
            <a:ext cx="5321656" cy="351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4285" y="-1480"/>
            <a:ext cx="979715" cy="961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" name="Google Shape;43;p5"/>
          <p:cNvCxnSpPr/>
          <p:nvPr/>
        </p:nvCxnSpPr>
        <p:spPr>
          <a:xfrm>
            <a:off x="0" y="990600"/>
            <a:ext cx="9144000" cy="0"/>
          </a:xfrm>
          <a:prstGeom prst="straightConnector1">
            <a:avLst/>
          </a:prstGeom>
          <a:noFill/>
          <a:ln w="50800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4" name="Google Shape;44;p5"/>
          <p:cNvCxnSpPr/>
          <p:nvPr/>
        </p:nvCxnSpPr>
        <p:spPr>
          <a:xfrm>
            <a:off x="0" y="6756400"/>
            <a:ext cx="9144000" cy="0"/>
          </a:xfrm>
          <a:prstGeom prst="straightConnector1">
            <a:avLst/>
          </a:prstGeom>
          <a:noFill/>
          <a:ln w="222250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5" name="Google Shape;45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4197" y="6447291"/>
            <a:ext cx="1666875" cy="19843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8382001" y="6607628"/>
            <a:ext cx="762000" cy="19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">
  <p:cSld name="Last Slid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/>
        </p:nvSpPr>
        <p:spPr>
          <a:xfrm>
            <a:off x="8382001" y="6607628"/>
            <a:ext cx="762000" cy="198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3363913" y="2971801"/>
            <a:ext cx="2452687" cy="7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0" name="Google Shape;50;p6"/>
          <p:cNvCxnSpPr/>
          <p:nvPr/>
        </p:nvCxnSpPr>
        <p:spPr>
          <a:xfrm>
            <a:off x="3595524" y="3619535"/>
            <a:ext cx="2009553" cy="0"/>
          </a:xfrm>
          <a:prstGeom prst="straightConnector1">
            <a:avLst/>
          </a:prstGeom>
          <a:noFill/>
          <a:ln w="50800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>
            <a:spLocks noGrp="1"/>
          </p:cNvSpPr>
          <p:nvPr>
            <p:ph type="title" idx="4294967295"/>
          </p:nvPr>
        </p:nvSpPr>
        <p:spPr>
          <a:xfrm>
            <a:off x="1056295" y="1146401"/>
            <a:ext cx="7247100" cy="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/>
              <a:t>Summer Internship Programme</a:t>
            </a:r>
            <a:endParaRPr sz="3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>
            <a:spLocks noGrp="1"/>
          </p:cNvSpPr>
          <p:nvPr>
            <p:ph type="body" idx="4294967295"/>
          </p:nvPr>
        </p:nvSpPr>
        <p:spPr>
          <a:xfrm>
            <a:off x="1056295" y="2611304"/>
            <a:ext cx="72471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dirty="0"/>
              <a:t>Role- Software Development Intern</a:t>
            </a:r>
            <a:endParaRPr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>
            <a:spLocks noGrp="1"/>
          </p:cNvSpPr>
          <p:nvPr>
            <p:ph type="body" idx="4294967295"/>
          </p:nvPr>
        </p:nvSpPr>
        <p:spPr>
          <a:xfrm>
            <a:off x="1056270" y="3251974"/>
            <a:ext cx="72471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i="1" dirty="0"/>
              <a:t>Project: </a:t>
            </a:r>
            <a:r>
              <a:rPr lang="en-US" sz="1800" i="1" dirty="0" err="1"/>
              <a:t>Meetgram</a:t>
            </a:r>
            <a:r>
              <a:rPr lang="en-US" sz="1800" i="1" dirty="0"/>
              <a:t> </a:t>
            </a:r>
            <a:r>
              <a:rPr lang="en-US" sz="1800" i="1" dirty="0" smtClean="0"/>
              <a:t>- A </a:t>
            </a:r>
            <a:r>
              <a:rPr lang="en-US" sz="1800" i="1" dirty="0"/>
              <a:t>Centralized Meeting Management Tool</a:t>
            </a:r>
            <a:endParaRPr sz="1800" b="0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4294967295"/>
          </p:nvPr>
        </p:nvSpPr>
        <p:spPr>
          <a:xfrm>
            <a:off x="1056295" y="2188012"/>
            <a:ext cx="72471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lang="en-US" sz="2200" b="1" i="1" dirty="0">
                <a:solidFill>
                  <a:srgbClr val="000099"/>
                </a:solidFill>
              </a:rPr>
              <a:t>Organization- Commerce Robotics Inc.</a:t>
            </a:r>
            <a:endParaRPr sz="2200" b="1" i="1" dirty="0">
              <a:solidFill>
                <a:srgbClr val="000099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lang="en-US" sz="2200" b="1" i="1" dirty="0">
                <a:solidFill>
                  <a:srgbClr val="000099"/>
                </a:solidFill>
              </a:rPr>
              <a:t>Tokyo, Japan</a:t>
            </a:r>
            <a:endParaRPr sz="2200" b="1" i="1" u="none" strike="noStrike" cap="none" dirty="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>
            <a:spLocks noGrp="1"/>
          </p:cNvSpPr>
          <p:nvPr>
            <p:ph type="title"/>
          </p:nvPr>
        </p:nvSpPr>
        <p:spPr>
          <a:xfrm>
            <a:off x="180654" y="202990"/>
            <a:ext cx="7042080" cy="55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About Meetgram</a:t>
            </a:r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body" idx="1"/>
          </p:nvPr>
        </p:nvSpPr>
        <p:spPr>
          <a:xfrm>
            <a:off x="180653" y="1173984"/>
            <a:ext cx="8768137" cy="5223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❖"/>
            </a:pPr>
            <a:r>
              <a:rPr lang="en-US" sz="2200" dirty="0">
                <a:latin typeface="Roboto"/>
                <a:ea typeface="Roboto"/>
                <a:cs typeface="Roboto"/>
                <a:sym typeface="Roboto"/>
              </a:rPr>
              <a:t>Easy-to-schedule online </a:t>
            </a:r>
            <a:endParaRPr sz="22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Roboto"/>
                <a:ea typeface="Roboto"/>
                <a:cs typeface="Roboto"/>
                <a:sym typeface="Roboto"/>
              </a:rPr>
              <a:t>meetings platform</a:t>
            </a:r>
            <a:endParaRPr sz="22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❖"/>
            </a:pPr>
            <a:r>
              <a:rPr lang="en-US" sz="2200" dirty="0">
                <a:latin typeface="Roboto"/>
                <a:ea typeface="Roboto"/>
                <a:cs typeface="Roboto"/>
                <a:sym typeface="Roboto"/>
              </a:rPr>
              <a:t>Real-Time Speech-to-Text</a:t>
            </a:r>
            <a:endParaRPr sz="22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latin typeface="Roboto"/>
                <a:ea typeface="Roboto"/>
                <a:cs typeface="Roboto"/>
                <a:sym typeface="Roboto"/>
              </a:rPr>
              <a:t>Translation Service</a:t>
            </a:r>
            <a:endParaRPr sz="22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❖"/>
            </a:pPr>
            <a:r>
              <a:rPr lang="en-US" sz="2200" dirty="0">
                <a:latin typeface="Roboto"/>
                <a:ea typeface="Roboto"/>
                <a:cs typeface="Roboto"/>
                <a:sym typeface="Roboto"/>
              </a:rPr>
              <a:t>AI-powered meeting minutes</a:t>
            </a:r>
            <a:endParaRPr sz="22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❖"/>
            </a:pPr>
            <a:r>
              <a:rPr lang="en-US" sz="2200" dirty="0">
                <a:latin typeface="Roboto"/>
                <a:ea typeface="Roboto"/>
                <a:cs typeface="Roboto"/>
                <a:sym typeface="Roboto"/>
              </a:rPr>
              <a:t>Meeting Chat History</a:t>
            </a:r>
            <a:endParaRPr sz="2200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0550" y="1173975"/>
            <a:ext cx="6483251" cy="3218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4484450" y="6316775"/>
            <a:ext cx="340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434343"/>
                </a:solidFill>
              </a:rPr>
              <a:t>Source:</a:t>
            </a:r>
            <a:r>
              <a:rPr lang="en-US">
                <a:solidFill>
                  <a:srgbClr val="434343"/>
                </a:solidFill>
              </a:rPr>
              <a:t> </a:t>
            </a:r>
            <a:r>
              <a:rPr lang="en-US" sz="1300"/>
              <a:t>https://www.meet-gram.com/</a:t>
            </a:r>
            <a:endParaRPr sz="1300"/>
          </a:p>
        </p:txBody>
      </p:sp>
      <p:pic>
        <p:nvPicPr>
          <p:cNvPr id="112" name="Google Shape;11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50" y="3589375"/>
            <a:ext cx="2942000" cy="294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1527" y="4633300"/>
            <a:ext cx="2841276" cy="159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>
            <a:spLocks noGrp="1"/>
          </p:cNvSpPr>
          <p:nvPr>
            <p:ph type="title"/>
          </p:nvPr>
        </p:nvSpPr>
        <p:spPr>
          <a:xfrm>
            <a:off x="180654" y="202990"/>
            <a:ext cx="7042200" cy="55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Contributions and Tasks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body" idx="1"/>
          </p:nvPr>
        </p:nvSpPr>
        <p:spPr>
          <a:xfrm>
            <a:off x="180653" y="1173984"/>
            <a:ext cx="8768100" cy="522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Roboto"/>
              <a:buChar char="❖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Speech-to-Text Service Optimization: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➢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On-Speech End Translation          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Real-time 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Translation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➢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Voice-Activity Detection and Echo-filtering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❖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Speaker Diarization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❖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User Interface (UI) Enhancement for Chat System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373592" y="1744208"/>
            <a:ext cx="372161" cy="29162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638" y="4034025"/>
            <a:ext cx="4462925" cy="1717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061201" y="5943975"/>
            <a:ext cx="2701800" cy="4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Speech-to-Translated Text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>
            <a:spLocks noGrp="1"/>
          </p:cNvSpPr>
          <p:nvPr>
            <p:ph type="title"/>
          </p:nvPr>
        </p:nvSpPr>
        <p:spPr>
          <a:xfrm>
            <a:off x="180654" y="202990"/>
            <a:ext cx="7042200" cy="55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Challenges and Solution</a:t>
            </a:r>
            <a:endParaRPr/>
          </a:p>
        </p:txBody>
      </p:sp>
      <p:grpSp>
        <p:nvGrpSpPr>
          <p:cNvPr id="150" name="Google Shape;150;p17"/>
          <p:cNvGrpSpPr/>
          <p:nvPr/>
        </p:nvGrpSpPr>
        <p:grpSpPr>
          <a:xfrm>
            <a:off x="612926" y="1495352"/>
            <a:ext cx="7918149" cy="1440089"/>
            <a:chOff x="1593000" y="2322568"/>
            <a:chExt cx="5957975" cy="643500"/>
          </a:xfrm>
        </p:grpSpPr>
        <p:sp>
          <p:nvSpPr>
            <p:cNvPr id="151" name="Google Shape;151;p1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smtClean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Real-time Speech-To-Text </a:t>
              </a:r>
              <a:r>
                <a:rPr lang="en-US" sz="160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Optimization</a:t>
              </a:r>
              <a:endParaRPr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249D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sz="2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157" name="Google Shape;157;p17"/>
          <p:cNvGraphicFramePr/>
          <p:nvPr/>
        </p:nvGraphicFramePr>
        <p:xfrm>
          <a:off x="4572000" y="1516375"/>
          <a:ext cx="3959075" cy="2223426"/>
        </p:xfrm>
        <a:graphic>
          <a:graphicData uri="http://schemas.openxmlformats.org/drawingml/2006/table">
            <a:tbl>
              <a:tblPr>
                <a:noFill/>
                <a:tableStyleId>{0514C9A5-1221-4D90-9E97-D111E224DFD0}</a:tableStyleId>
              </a:tblPr>
              <a:tblGrid>
                <a:gridCol w="2033625"/>
                <a:gridCol w="1925450"/>
              </a:tblGrid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</a:rPr>
                        <a:t>Silero VAD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: pre-trained VAD module.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Modifying the above module by chunking the voice input for real-time conversion.</a:t>
                      </a:r>
                      <a:endParaRPr sz="13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Learning Typescript.</a:t>
                      </a:r>
                      <a:endParaRPr sz="1300"/>
                    </a:p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Integrating the modified version of module within the project.</a:t>
                      </a:r>
                      <a:endParaRPr sz="1300"/>
                    </a:p>
                    <a:p>
                      <a:pPr marL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(Compatibility)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17"/>
          <p:cNvSpPr txBox="1"/>
          <p:nvPr/>
        </p:nvSpPr>
        <p:spPr>
          <a:xfrm>
            <a:off x="4842825" y="1094650"/>
            <a:ext cx="1273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1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6865775" y="1094650"/>
            <a:ext cx="1273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Challenges</a:t>
            </a:r>
            <a:endParaRPr sz="16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0" name="Google Shape;160;p17"/>
          <p:cNvGrpSpPr/>
          <p:nvPr/>
        </p:nvGrpSpPr>
        <p:grpSpPr>
          <a:xfrm>
            <a:off x="612926" y="2961427"/>
            <a:ext cx="7918149" cy="1440089"/>
            <a:chOff x="1593000" y="2322568"/>
            <a:chExt cx="5957975" cy="643500"/>
          </a:xfrm>
        </p:grpSpPr>
        <p:sp>
          <p:nvSpPr>
            <p:cNvPr id="161" name="Google Shape;161;p1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Speaker Diarization</a:t>
              </a:r>
              <a:endParaRPr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249D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sz="2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7" name="Google Shape;167;p17"/>
          <p:cNvGrpSpPr/>
          <p:nvPr/>
        </p:nvGrpSpPr>
        <p:grpSpPr>
          <a:xfrm>
            <a:off x="612926" y="4427502"/>
            <a:ext cx="7918149" cy="1440089"/>
            <a:chOff x="1593000" y="2322568"/>
            <a:chExt cx="5957975" cy="643500"/>
          </a:xfrm>
        </p:grpSpPr>
        <p:sp>
          <p:nvSpPr>
            <p:cNvPr id="168" name="Google Shape;168;p17"/>
            <p:cNvSpPr/>
            <p:nvPr/>
          </p:nvSpPr>
          <p:spPr>
            <a:xfrm>
              <a:off x="3728375" y="2322568"/>
              <a:ext cx="3822600" cy="643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7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7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D7E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17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just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FFFFF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UI Enhancement for Chat</a:t>
              </a:r>
              <a:endPara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7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17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249D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sz="2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174" name="Google Shape;174;p17"/>
          <p:cNvGraphicFramePr/>
          <p:nvPr/>
        </p:nvGraphicFramePr>
        <p:xfrm>
          <a:off x="4572000" y="3027525"/>
          <a:ext cx="3959075" cy="2114460"/>
        </p:xfrm>
        <a:graphic>
          <a:graphicData uri="http://schemas.openxmlformats.org/drawingml/2006/table">
            <a:tbl>
              <a:tblPr>
                <a:noFill/>
                <a:tableStyleId>{0514C9A5-1221-4D90-9E97-D111E224DFD0}</a:tableStyleId>
              </a:tblPr>
              <a:tblGrid>
                <a:gridCol w="2033625"/>
                <a:gridCol w="1925450"/>
              </a:tblGrid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/>
                        <a:t>Testing several Speaker Diarization APIs such as </a:t>
                      </a:r>
                      <a:r>
                        <a:rPr lang="en-US" sz="1300" dirty="0" err="1"/>
                        <a:t>Pyannote</a:t>
                      </a:r>
                      <a:r>
                        <a:rPr lang="en-US" sz="1300" dirty="0"/>
                        <a:t>, </a:t>
                      </a:r>
                      <a:r>
                        <a:rPr lang="en-US" sz="1300" dirty="0" err="1"/>
                        <a:t>Nvidia</a:t>
                      </a:r>
                      <a:r>
                        <a:rPr lang="en-US" sz="1300" dirty="0"/>
                        <a:t> </a:t>
                      </a:r>
                      <a:r>
                        <a:rPr lang="en-US" sz="1300" dirty="0" err="1"/>
                        <a:t>Nemo</a:t>
                      </a:r>
                      <a:r>
                        <a:rPr lang="en-US" sz="1300" dirty="0"/>
                        <a:t> and comparing results (performance and price)</a:t>
                      </a:r>
                      <a:endParaRPr sz="13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Understanding the modules.</a:t>
                      </a:r>
                      <a:endParaRPr sz="13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Error handling.</a:t>
                      </a:r>
                      <a:endParaRPr sz="13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Cost management.</a:t>
                      </a:r>
                      <a:endParaRPr sz="13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Scalability issues.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5" name="Google Shape;175;p17"/>
          <p:cNvGraphicFramePr/>
          <p:nvPr/>
        </p:nvGraphicFramePr>
        <p:xfrm>
          <a:off x="4572000" y="4530450"/>
          <a:ext cx="3959075" cy="2327820"/>
        </p:xfrm>
        <a:graphic>
          <a:graphicData uri="http://schemas.openxmlformats.org/drawingml/2006/table">
            <a:tbl>
              <a:tblPr>
                <a:noFill/>
                <a:tableStyleId>{0514C9A5-1221-4D90-9E97-D111E224DFD0}</a:tableStyleId>
              </a:tblPr>
              <a:tblGrid>
                <a:gridCol w="2033625"/>
                <a:gridCol w="1925450"/>
              </a:tblGrid>
              <a:tr h="381000"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Old-boring basic UI transformed in modern, flexible and responsive UI following the best practices</a:t>
                      </a:r>
                      <a:endParaRPr sz="13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Learning Vue.Js</a:t>
                      </a:r>
                      <a:endParaRPr sz="13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Adhering to UI/UX best practices.</a:t>
                      </a:r>
                      <a:endParaRPr sz="1300"/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User feedback integration</a:t>
                      </a:r>
                      <a:endParaRPr sz="130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>
            <a:spLocks noGrp="1"/>
          </p:cNvSpPr>
          <p:nvPr>
            <p:ph type="title"/>
          </p:nvPr>
        </p:nvSpPr>
        <p:spPr>
          <a:xfrm>
            <a:off x="180654" y="202990"/>
            <a:ext cx="7042200" cy="55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</a:t>
            </a:r>
            <a:endParaRPr/>
          </a:p>
        </p:txBody>
      </p:sp>
      <p:pic>
        <p:nvPicPr>
          <p:cNvPr id="183" name="Google Shape;183;p18"/>
          <p:cNvPicPr preferRelativeResize="0"/>
          <p:nvPr/>
        </p:nvPicPr>
        <p:blipFill rotWithShape="1">
          <a:blip r:embed="rId3">
            <a:alphaModFix/>
          </a:blip>
          <a:srcRect r="1797"/>
          <a:stretch/>
        </p:blipFill>
        <p:spPr>
          <a:xfrm>
            <a:off x="3914100" y="2208850"/>
            <a:ext cx="4998875" cy="244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/>
          <p:cNvPicPr preferRelativeResize="0"/>
          <p:nvPr/>
        </p:nvPicPr>
        <p:blipFill rotWithShape="1">
          <a:blip r:embed="rId4">
            <a:alphaModFix/>
          </a:blip>
          <a:srcRect l="37681" t="19628" r="35269" b="7213"/>
          <a:stretch/>
        </p:blipFill>
        <p:spPr>
          <a:xfrm>
            <a:off x="401000" y="1097275"/>
            <a:ext cx="3592699" cy="5467149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8"/>
          <p:cNvSpPr txBox="1"/>
          <p:nvPr/>
        </p:nvSpPr>
        <p:spPr>
          <a:xfrm>
            <a:off x="4202544" y="4869100"/>
            <a:ext cx="4422000" cy="9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Chat System UI Updation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180654" y="202990"/>
            <a:ext cx="7042200" cy="55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(Contd.)</a:t>
            </a:r>
            <a:endParaRPr/>
          </a:p>
        </p:txBody>
      </p:sp>
      <p:pic>
        <p:nvPicPr>
          <p:cNvPr id="193" name="Google Shape;1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7590"/>
            <a:ext cx="8839204" cy="313774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2360994" y="4494900"/>
            <a:ext cx="4422000" cy="9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Speaker Diarization output on sample audio file </a:t>
            </a:r>
            <a:endParaRPr sz="2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(10 speakers on single </a:t>
            </a:r>
            <a:r>
              <a:rPr lang="en-US" sz="21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mic</a:t>
            </a:r>
            <a:r>
              <a:rPr lang="en-US" sz="21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1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>
            <a:spLocks noGrp="1"/>
          </p:cNvSpPr>
          <p:nvPr>
            <p:ph type="title"/>
          </p:nvPr>
        </p:nvSpPr>
        <p:spPr>
          <a:xfrm>
            <a:off x="180654" y="202990"/>
            <a:ext cx="7042200" cy="55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Results (Contd.)</a:t>
            </a:r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 rotWithShape="1">
          <a:blip r:embed="rId3">
            <a:alphaModFix/>
          </a:blip>
          <a:srcRect l="26525" t="7460" r="16772" b="11357"/>
          <a:stretch/>
        </p:blipFill>
        <p:spPr>
          <a:xfrm>
            <a:off x="365125" y="1338025"/>
            <a:ext cx="5011973" cy="466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3018525" y="1700900"/>
            <a:ext cx="1009200" cy="1530800"/>
          </a:xfrm>
          <a:custGeom>
            <a:avLst/>
            <a:gdLst/>
            <a:ahLst/>
            <a:cxnLst/>
            <a:rect l="l" t="t" r="r" b="b"/>
            <a:pathLst>
              <a:path w="40368" h="61232" extrusionOk="0">
                <a:moveTo>
                  <a:pt x="0" y="0"/>
                </a:moveTo>
                <a:lnTo>
                  <a:pt x="40368" y="0"/>
                </a:lnTo>
                <a:lnTo>
                  <a:pt x="40368" y="61232"/>
                </a:lnTo>
                <a:lnTo>
                  <a:pt x="1360" y="61232"/>
                </a:lnTo>
              </a:path>
            </a:pathLst>
          </a:cu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204" name="Google Shape;204;p20"/>
          <p:cNvCxnSpPr/>
          <p:nvPr/>
        </p:nvCxnSpPr>
        <p:spPr>
          <a:xfrm>
            <a:off x="4016375" y="2460625"/>
            <a:ext cx="6123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0"/>
          <p:cNvCxnSpPr/>
          <p:nvPr/>
        </p:nvCxnSpPr>
        <p:spPr>
          <a:xfrm>
            <a:off x="4016375" y="4740275"/>
            <a:ext cx="612300" cy="0"/>
          </a:xfrm>
          <a:prstGeom prst="straightConnector1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" name="Google Shape;206;p20"/>
          <p:cNvSpPr/>
          <p:nvPr/>
        </p:nvSpPr>
        <p:spPr>
          <a:xfrm>
            <a:off x="3018525" y="3911375"/>
            <a:ext cx="1009200" cy="1530800"/>
          </a:xfrm>
          <a:custGeom>
            <a:avLst/>
            <a:gdLst/>
            <a:ahLst/>
            <a:cxnLst/>
            <a:rect l="l" t="t" r="r" b="b"/>
            <a:pathLst>
              <a:path w="40368" h="61232" extrusionOk="0">
                <a:moveTo>
                  <a:pt x="0" y="0"/>
                </a:moveTo>
                <a:lnTo>
                  <a:pt x="40368" y="0"/>
                </a:lnTo>
                <a:lnTo>
                  <a:pt x="40368" y="61232"/>
                </a:lnTo>
                <a:lnTo>
                  <a:pt x="1360" y="61232"/>
                </a:lnTo>
              </a:path>
            </a:pathLst>
          </a:custGeom>
          <a:noFill/>
          <a:ln w="762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07" name="Google Shape;207;p20"/>
          <p:cNvSpPr/>
          <p:nvPr/>
        </p:nvSpPr>
        <p:spPr>
          <a:xfrm>
            <a:off x="4669375" y="2171700"/>
            <a:ext cx="612300" cy="6243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3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669375" y="4428125"/>
            <a:ext cx="612300" cy="624300"/>
          </a:xfrm>
          <a:prstGeom prst="ellipse">
            <a:avLst/>
          </a:prstGeom>
          <a:noFill/>
          <a:ln w="762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u="sng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 rot="10800000">
            <a:off x="4383725" y="3484025"/>
            <a:ext cx="888900" cy="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10;p20"/>
          <p:cNvCxnSpPr/>
          <p:nvPr/>
        </p:nvCxnSpPr>
        <p:spPr>
          <a:xfrm rot="10800000">
            <a:off x="4462900" y="5668650"/>
            <a:ext cx="5400" cy="217800"/>
          </a:xfrm>
          <a:prstGeom prst="straightConnector1">
            <a:avLst/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4468275" y="5886450"/>
            <a:ext cx="423300" cy="0"/>
          </a:xfrm>
          <a:prstGeom prst="straightConnector1">
            <a:avLst/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" name="Google Shape;212;p20"/>
          <p:cNvSpPr txBox="1"/>
          <p:nvPr/>
        </p:nvSpPr>
        <p:spPr>
          <a:xfrm>
            <a:off x="5505450" y="3232150"/>
            <a:ext cx="3566700" cy="6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Full sentence(stabilised text) being sent to client(user)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5505450" y="2171700"/>
            <a:ext cx="3566700" cy="6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Chunks of speech sent to client(user) as real-time transcribed text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6022038" y="5546850"/>
            <a:ext cx="3050100" cy="6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Fig. Real-time Speech-To-Text Transcription and Translation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>
            <a:spLocks noGrp="1"/>
          </p:cNvSpPr>
          <p:nvPr>
            <p:ph type="title"/>
          </p:nvPr>
        </p:nvSpPr>
        <p:spPr>
          <a:xfrm>
            <a:off x="180654" y="202990"/>
            <a:ext cx="7042200" cy="55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Impact</a:t>
            </a:r>
            <a:endParaRPr/>
          </a:p>
        </p:txBody>
      </p:sp>
      <p:grpSp>
        <p:nvGrpSpPr>
          <p:cNvPr id="222" name="Google Shape;222;p21"/>
          <p:cNvGrpSpPr/>
          <p:nvPr/>
        </p:nvGrpSpPr>
        <p:grpSpPr>
          <a:xfrm>
            <a:off x="723292" y="1343475"/>
            <a:ext cx="3586533" cy="4636905"/>
            <a:chOff x="1118300" y="283725"/>
            <a:chExt cx="2099598" cy="4076400"/>
          </a:xfrm>
        </p:grpSpPr>
        <p:sp>
          <p:nvSpPr>
            <p:cNvPr id="223" name="Google Shape;223;p21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1169798" y="341748"/>
              <a:ext cx="2048100" cy="19515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D7E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1218403" y="648703"/>
              <a:ext cx="19509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1D7E75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Real-Time Speech Translation</a:t>
              </a:r>
              <a:endParaRPr sz="1800">
                <a:solidFill>
                  <a:srgbClr val="1D7E75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1286352" y="1178603"/>
              <a:ext cx="1815000" cy="82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Conversion of audio from one language to another in real-time while the user is speaking.</a:t>
              </a:r>
              <a:endParaRPr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27" name="Google Shape;227;p21"/>
            <p:cNvSpPr/>
            <p:nvPr/>
          </p:nvSpPr>
          <p:spPr>
            <a:xfrm rot="5400000">
              <a:off x="1973557" y="2300973"/>
              <a:ext cx="389100" cy="27810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1118300" y="2737444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-3238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Char char="●"/>
              </a:pPr>
              <a:r>
                <a:rPr lang="en-US" sz="15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Breaking Language Barriers </a:t>
              </a:r>
              <a:endParaRPr sz="15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238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Char char="●"/>
              </a:pPr>
              <a:r>
                <a:rPr lang="en-US" sz="15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Accelerate Global partnerships</a:t>
              </a:r>
              <a:endParaRPr sz="15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2385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Char char="●"/>
              </a:pPr>
              <a:r>
                <a:rPr lang="en-US" sz="1500" dirty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Highly customizable service</a:t>
              </a:r>
              <a:endParaRPr sz="15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9" name="Google Shape;229;p21"/>
          <p:cNvGrpSpPr/>
          <p:nvPr/>
        </p:nvGrpSpPr>
        <p:grpSpPr>
          <a:xfrm>
            <a:off x="4834167" y="1343475"/>
            <a:ext cx="3586533" cy="4636905"/>
            <a:chOff x="1118300" y="283725"/>
            <a:chExt cx="2099598" cy="4076400"/>
          </a:xfrm>
        </p:grpSpPr>
        <p:sp>
          <p:nvSpPr>
            <p:cNvPr id="230" name="Google Shape;230;p21"/>
            <p:cNvSpPr/>
            <p:nvPr/>
          </p:nvSpPr>
          <p:spPr>
            <a:xfrm>
              <a:off x="1178650" y="283725"/>
              <a:ext cx="2030400" cy="40764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1169798" y="341748"/>
              <a:ext cx="2048100" cy="195150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D7E7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1218403" y="648648"/>
              <a:ext cx="19509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dirty="0">
                  <a:solidFill>
                    <a:srgbClr val="1D7E75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Intelligent </a:t>
              </a:r>
              <a:r>
                <a:rPr lang="en-US" sz="1800" dirty="0" smtClean="0">
                  <a:solidFill>
                    <a:srgbClr val="1D7E75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Task </a:t>
              </a:r>
              <a:r>
                <a:rPr lang="en-US" sz="1800" dirty="0">
                  <a:solidFill>
                    <a:srgbClr val="1D7E75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Management</a:t>
              </a:r>
              <a:endParaRPr sz="1800" dirty="0">
                <a:solidFill>
                  <a:srgbClr val="1D7E75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1286352" y="1178603"/>
              <a:ext cx="1815000" cy="82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1D7E75"/>
                  </a:solidFill>
                  <a:latin typeface="Roboto"/>
                  <a:ea typeface="Roboto"/>
                  <a:cs typeface="Roboto"/>
                  <a:sym typeface="Roboto"/>
                </a:rPr>
                <a:t>Automatic scheduling of tasks and agendas from the AI generated meeting notes</a:t>
              </a:r>
              <a:endParaRPr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 rot="5400000">
              <a:off x="1973557" y="2300885"/>
              <a:ext cx="389100" cy="27810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1118300" y="2737444"/>
              <a:ext cx="20304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oboto"/>
                <a:buChar char="●"/>
              </a:pPr>
              <a:r>
                <a:rPr lang="en-US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Elimination of Manual Task tracking 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oboto"/>
                <a:buChar char="●"/>
              </a:pPr>
              <a:r>
                <a:rPr lang="en-US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Shorter, purpose driven meetings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marL="457200" lvl="0" indent="-3175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Roboto"/>
                <a:buChar char="●"/>
              </a:pPr>
              <a:r>
                <a:rPr lang="en-US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Ease of retrieval of tasks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2"/>
          <p:cNvSpPr txBox="1">
            <a:spLocks noGrp="1"/>
          </p:cNvSpPr>
          <p:nvPr>
            <p:ph type="title"/>
          </p:nvPr>
        </p:nvSpPr>
        <p:spPr>
          <a:xfrm>
            <a:off x="180654" y="202990"/>
            <a:ext cx="7042200" cy="55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Learnings and Insights</a:t>
            </a:r>
            <a:endParaRPr/>
          </a:p>
        </p:txBody>
      </p:sp>
      <p:grpSp>
        <p:nvGrpSpPr>
          <p:cNvPr id="243" name="Google Shape;243;p22"/>
          <p:cNvGrpSpPr/>
          <p:nvPr/>
        </p:nvGrpSpPr>
        <p:grpSpPr>
          <a:xfrm>
            <a:off x="-38" y="2135825"/>
            <a:ext cx="3822765" cy="1074847"/>
            <a:chOff x="308835" y="1242977"/>
            <a:chExt cx="3558378" cy="924600"/>
          </a:xfrm>
        </p:grpSpPr>
        <p:cxnSp>
          <p:nvCxnSpPr>
            <p:cNvPr id="244" name="Google Shape;244;p22"/>
            <p:cNvCxnSpPr/>
            <p:nvPr/>
          </p:nvCxnSpPr>
          <p:spPr>
            <a:xfrm rot="10800000">
              <a:off x="2642013" y="1654113"/>
              <a:ext cx="1225200" cy="0"/>
            </a:xfrm>
            <a:prstGeom prst="straightConnector1">
              <a:avLst/>
            </a:prstGeom>
            <a:noFill/>
            <a:ln w="9525" cap="flat" cmpd="sng">
              <a:solidFill>
                <a:srgbClr val="249C91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sp>
          <p:nvSpPr>
            <p:cNvPr id="245" name="Google Shape;245;p22"/>
            <p:cNvSpPr txBox="1"/>
            <p:nvPr/>
          </p:nvSpPr>
          <p:spPr>
            <a:xfrm>
              <a:off x="308835" y="1242977"/>
              <a:ext cx="22923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latin typeface="Roboto"/>
                  <a:ea typeface="Roboto"/>
                  <a:cs typeface="Roboto"/>
                  <a:sym typeface="Roboto"/>
                </a:rPr>
                <a:t>Learning the most trendy </a:t>
              </a:r>
              <a:endParaRPr b="1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latin typeface="Roboto"/>
                  <a:ea typeface="Roboto"/>
                  <a:cs typeface="Roboto"/>
                  <a:sym typeface="Roboto"/>
                </a:rPr>
                <a:t>tech-stack</a:t>
              </a:r>
              <a:endParaRPr b="1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 dirty="0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1000" dirty="0">
                  <a:latin typeface="Roboto"/>
                  <a:ea typeface="Roboto"/>
                  <a:cs typeface="Roboto"/>
                  <a:sym typeface="Roboto"/>
                </a:rPr>
                <a:t>AI, Cloud services, </a:t>
              </a:r>
              <a:r>
                <a:rPr lang="en-US" sz="1000" dirty="0" err="1">
                  <a:latin typeface="Roboto"/>
                  <a:ea typeface="Roboto"/>
                  <a:cs typeface="Roboto"/>
                  <a:sym typeface="Roboto"/>
                </a:rPr>
                <a:t>Docker</a:t>
              </a:r>
              <a:r>
                <a:rPr lang="en-US" sz="1000" dirty="0">
                  <a:latin typeface="Roboto"/>
                  <a:ea typeface="Roboto"/>
                  <a:cs typeface="Roboto"/>
                  <a:sym typeface="Roboto"/>
                </a:rPr>
                <a:t>, Vue.js</a:t>
              </a:r>
              <a:br>
                <a:rPr lang="en-US" sz="1000" dirty="0"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1000" dirty="0">
                  <a:latin typeface="Roboto"/>
                  <a:ea typeface="Roboto"/>
                  <a:cs typeface="Roboto"/>
                  <a:sym typeface="Roboto"/>
                </a:rPr>
                <a:t>and much more</a:t>
              </a:r>
              <a:r>
                <a:rPr lang="en-US" sz="800" dirty="0"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800" b="1" dirty="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6" name="Google Shape;246;p22"/>
          <p:cNvGrpSpPr/>
          <p:nvPr/>
        </p:nvGrpSpPr>
        <p:grpSpPr>
          <a:xfrm>
            <a:off x="-35" y="3766984"/>
            <a:ext cx="3505548" cy="1074847"/>
            <a:chOff x="308838" y="2646125"/>
            <a:chExt cx="3263100" cy="924600"/>
          </a:xfrm>
        </p:grpSpPr>
        <p:cxnSp>
          <p:nvCxnSpPr>
            <p:cNvPr id="247" name="Google Shape;247;p22"/>
            <p:cNvCxnSpPr/>
            <p:nvPr/>
          </p:nvCxnSpPr>
          <p:spPr>
            <a:xfrm rot="10800000">
              <a:off x="2641938" y="3108425"/>
              <a:ext cx="930000" cy="0"/>
            </a:xfrm>
            <a:prstGeom prst="straightConnector1">
              <a:avLst/>
            </a:prstGeom>
            <a:noFill/>
            <a:ln w="9525" cap="flat" cmpd="sng">
              <a:solidFill>
                <a:srgbClr val="1F887E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sp>
          <p:nvSpPr>
            <p:cNvPr id="248" name="Google Shape;248;p22"/>
            <p:cNvSpPr txBox="1"/>
            <p:nvPr/>
          </p:nvSpPr>
          <p:spPr>
            <a:xfrm>
              <a:off x="308838" y="264612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latin typeface="Roboto"/>
                  <a:ea typeface="Roboto"/>
                  <a:cs typeface="Roboto"/>
                  <a:sym typeface="Roboto"/>
                </a:rPr>
                <a:t>Finding the path to the best optimal solution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1000">
                  <a:latin typeface="Roboto"/>
                  <a:ea typeface="Roboto"/>
                  <a:cs typeface="Roboto"/>
                  <a:sym typeface="Roboto"/>
                </a:rPr>
                <a:t>Based on cost management as well as output quality</a:t>
              </a:r>
              <a:endParaRPr sz="10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9" name="Google Shape;249;p22"/>
          <p:cNvGrpSpPr/>
          <p:nvPr/>
        </p:nvGrpSpPr>
        <p:grpSpPr>
          <a:xfrm>
            <a:off x="4671988" y="4633715"/>
            <a:ext cx="4472042" cy="1074847"/>
            <a:chOff x="4657738" y="3391700"/>
            <a:chExt cx="4162750" cy="924600"/>
          </a:xfrm>
        </p:grpSpPr>
        <p:cxnSp>
          <p:nvCxnSpPr>
            <p:cNvPr id="250" name="Google Shape;250;p22"/>
            <p:cNvCxnSpPr/>
            <p:nvPr/>
          </p:nvCxnSpPr>
          <p:spPr>
            <a:xfrm>
              <a:off x="4657738" y="3854000"/>
              <a:ext cx="1838700" cy="0"/>
            </a:xfrm>
            <a:prstGeom prst="straightConnector1">
              <a:avLst/>
            </a:prstGeom>
            <a:noFill/>
            <a:ln w="9525" cap="flat" cmpd="sng">
              <a:solidFill>
                <a:srgbClr val="1D7E75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sp>
          <p:nvSpPr>
            <p:cNvPr id="251" name="Google Shape;251;p22"/>
            <p:cNvSpPr txBox="1"/>
            <p:nvPr/>
          </p:nvSpPr>
          <p:spPr>
            <a:xfrm>
              <a:off x="6696488" y="339170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latin typeface="Roboto"/>
                  <a:ea typeface="Roboto"/>
                  <a:cs typeface="Roboto"/>
                  <a:sym typeface="Roboto"/>
                </a:rPr>
                <a:t>Enhanced problem-solving and time management skills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1000">
                  <a:latin typeface="Roboto"/>
                  <a:ea typeface="Roboto"/>
                  <a:cs typeface="Roboto"/>
                  <a:sym typeface="Roboto"/>
                </a:rPr>
                <a:t>Challenges test our perseverance and consistency under time limited environment</a:t>
              </a:r>
              <a:endParaRPr sz="10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52" name="Google Shape;252;p22"/>
          <p:cNvGrpSpPr/>
          <p:nvPr/>
        </p:nvGrpSpPr>
        <p:grpSpPr>
          <a:xfrm>
            <a:off x="5265109" y="2135822"/>
            <a:ext cx="3878921" cy="1074848"/>
            <a:chOff x="5209838" y="1242975"/>
            <a:chExt cx="3610650" cy="924600"/>
          </a:xfrm>
        </p:grpSpPr>
        <p:sp>
          <p:nvSpPr>
            <p:cNvPr id="253" name="Google Shape;253;p22"/>
            <p:cNvSpPr txBox="1"/>
            <p:nvPr/>
          </p:nvSpPr>
          <p:spPr>
            <a:xfrm>
              <a:off x="6696488" y="1242975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latin typeface="Roboto"/>
                  <a:ea typeface="Roboto"/>
                  <a:cs typeface="Roboto"/>
                  <a:sym typeface="Roboto"/>
                </a:rPr>
                <a:t>Work-life balance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1000">
                  <a:latin typeface="Roboto"/>
                  <a:ea typeface="Roboto"/>
                  <a:cs typeface="Roboto"/>
                  <a:sym typeface="Roboto"/>
                </a:rPr>
                <a:t>Managing the daily chores in a completely foreign country</a:t>
              </a:r>
              <a:endParaRPr sz="1000" b="1"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54" name="Google Shape;254;p22"/>
            <p:cNvCxnSpPr/>
            <p:nvPr/>
          </p:nvCxnSpPr>
          <p:spPr>
            <a:xfrm>
              <a:off x="5209838" y="1654113"/>
              <a:ext cx="1286700" cy="0"/>
            </a:xfrm>
            <a:prstGeom prst="straightConnector1">
              <a:avLst/>
            </a:prstGeom>
            <a:noFill/>
            <a:ln w="9525" cap="flat" cmpd="sng">
              <a:solidFill>
                <a:srgbClr val="155B55"/>
              </a:solidFill>
              <a:prstDash val="solid"/>
              <a:round/>
              <a:headEnd type="none" w="sm" len="sm"/>
              <a:tailEnd type="oval" w="med" len="med"/>
            </a:ln>
          </p:spPr>
        </p:cxnSp>
      </p:grpSp>
      <p:grpSp>
        <p:nvGrpSpPr>
          <p:cNvPr id="255" name="Google Shape;255;p22"/>
          <p:cNvGrpSpPr/>
          <p:nvPr/>
        </p:nvGrpSpPr>
        <p:grpSpPr>
          <a:xfrm>
            <a:off x="5695313" y="3380133"/>
            <a:ext cx="3448718" cy="1074847"/>
            <a:chOff x="5610288" y="2313350"/>
            <a:chExt cx="3210200" cy="924600"/>
          </a:xfrm>
        </p:grpSpPr>
        <p:cxnSp>
          <p:nvCxnSpPr>
            <p:cNvPr id="256" name="Google Shape;256;p22"/>
            <p:cNvCxnSpPr/>
            <p:nvPr/>
          </p:nvCxnSpPr>
          <p:spPr>
            <a:xfrm>
              <a:off x="5610288" y="2775650"/>
              <a:ext cx="886200" cy="0"/>
            </a:xfrm>
            <a:prstGeom prst="straightConnector1">
              <a:avLst/>
            </a:prstGeom>
            <a:noFill/>
            <a:ln w="9525" cap="flat" cmpd="sng">
              <a:solidFill>
                <a:srgbClr val="1B786F"/>
              </a:solidFill>
              <a:prstDash val="solid"/>
              <a:round/>
              <a:headEnd type="none" w="sm" len="sm"/>
              <a:tailEnd type="oval" w="med" len="med"/>
            </a:ln>
          </p:spPr>
        </p:cxnSp>
        <p:sp>
          <p:nvSpPr>
            <p:cNvPr id="257" name="Google Shape;257;p22"/>
            <p:cNvSpPr txBox="1"/>
            <p:nvPr/>
          </p:nvSpPr>
          <p:spPr>
            <a:xfrm>
              <a:off x="6696488" y="2313350"/>
              <a:ext cx="2124000" cy="9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latin typeface="Roboto"/>
                  <a:ea typeface="Roboto"/>
                  <a:cs typeface="Roboto"/>
                  <a:sym typeface="Roboto"/>
                </a:rPr>
                <a:t>Collaboration across disciplines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latin typeface="Roboto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US" sz="1000">
                  <a:latin typeface="Roboto"/>
                  <a:ea typeface="Roboto"/>
                  <a:cs typeface="Roboto"/>
                  <a:sym typeface="Roboto"/>
                </a:rPr>
                <a:t>Both in-team as well as across teams</a:t>
              </a:r>
              <a:endParaRPr sz="10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ITR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9157</TotalTime>
  <Words>384</Words>
  <Application>Microsoft Office PowerPoint</Application>
  <PresentationFormat>On-screen Show (4:3)</PresentationFormat>
  <Paragraphs>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Franklin Gothic</vt:lpstr>
      <vt:lpstr>Roboto Medium</vt:lpstr>
      <vt:lpstr>Calibri</vt:lpstr>
      <vt:lpstr>Roboto</vt:lpstr>
      <vt:lpstr>Arial</vt:lpstr>
      <vt:lpstr>IITR_PPT_Template</vt:lpstr>
      <vt:lpstr>Summer Internship Programme</vt:lpstr>
      <vt:lpstr>About Meetgram</vt:lpstr>
      <vt:lpstr>Contributions and Tasks</vt:lpstr>
      <vt:lpstr>Key Challenges and Solution</vt:lpstr>
      <vt:lpstr>Results</vt:lpstr>
      <vt:lpstr>Results (Contd.)</vt:lpstr>
      <vt:lpstr>Results (Contd.)</vt:lpstr>
      <vt:lpstr>The Impact</vt:lpstr>
      <vt:lpstr>Learnings and Insights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Internship Programme</dc:title>
  <cp:lastModifiedBy>Microsoft account</cp:lastModifiedBy>
  <cp:revision>12</cp:revision>
  <dcterms:modified xsi:type="dcterms:W3CDTF">2025-04-29T20:41:01Z</dcterms:modified>
</cp:coreProperties>
</file>
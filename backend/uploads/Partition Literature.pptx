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9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1" r:id="rId18"/>
    <p:sldId id="282" r:id="rId19"/>
    <p:sldId id="283" r:id="rId20"/>
    <p:sldId id="285" r:id="rId21"/>
  </p:sldIdLst>
  <p:sldSz cx="9144000" cy="5143500" type="screen16x9"/>
  <p:notesSz cx="6858000" cy="9144000"/>
  <p:embeddedFontLst>
    <p:embeddedFont>
      <p:font typeface="Cinzel" panose="020B0604020202020204" charset="0"/>
      <p:regular r:id="rId23"/>
      <p:bold r:id="rId24"/>
    </p:embeddedFont>
    <p:embeddedFont>
      <p:font typeface="Cinzel SemiBold" panose="020B0604020202020204" charset="0"/>
      <p:regular r:id="rId25"/>
      <p:bold r:id="rId26"/>
    </p:embeddedFont>
    <p:embeddedFont>
      <p:font typeface="Montserrat" panose="020B0604020202020204" charset="0"/>
      <p:regular r:id="rId27"/>
      <p:bold r:id="rId28"/>
      <p:italic r:id="rId29"/>
      <p:boldItalic r:id="rId30"/>
    </p:embeddedFont>
    <p:embeddedFont>
      <p:font typeface="Libre Baskerville" panose="020B0604020202020204" charset="0"/>
      <p:regular r:id="rId31"/>
      <p:bold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44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61357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5e373bfaf0_5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5e373bfaf0_5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33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5e373bfaf0_5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5e373bfaf0_5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0193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e373bfaf0_5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e373bfaf0_5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399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e373bfaf0_5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5e373bfaf0_5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81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5e373bfaf0_5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5e373bfaf0_5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6312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e373bfaf0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5e373bfaf0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4135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e373bfaf0_7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e373bfaf0_7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2567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e373bfaf0_7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e373bfaf0_7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340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e373bfaf0_7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e373bfaf0_7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724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5e373bfaf0_7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5e373bfaf0_7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3084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e373bfaf0_5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5e373bfaf0_5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216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5e3576e55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5e3576e55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7508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e373bfaf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e373bfaf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425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5e373bfaf0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5e373bfaf0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5548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5e3df09b9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5e3df09b9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4421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5e373bfaf0_5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5e373bfaf0_5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67302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5e3576e5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5e3576e5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Terrified of jail, choses to pay instead. Believes he would die if asked to stay in jail for 3 months.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8297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5e3576e55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5e3576e55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Justifies his addiction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1175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5e3df09b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5e3df09b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Exchange of people of mental asylums and emphasis on a man who does’nt want to be part of ind or pak and dies in a no-man’s land. Tries hard to deny the fact that partition has actually taken place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83950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e3df09b9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e3df09b9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131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798700" y="1991850"/>
            <a:ext cx="35466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1411350" y="1333000"/>
            <a:ext cx="6321300" cy="2477400"/>
          </a:xfrm>
          <a:prstGeom prst="rect">
            <a:avLst/>
          </a:prstGeom>
          <a:noFill/>
          <a:ln w="28575" cap="flat" cmpd="sng">
            <a:solidFill>
              <a:srgbClr val="40322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1513950" y="1583350"/>
            <a:ext cx="6116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919325" y="2687650"/>
            <a:ext cx="3305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sz="1600" i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sz="1600" i="1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sz="1600" i="1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i="1"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i="1"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None/>
              <a:defRPr i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i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i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i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1411350" y="720000"/>
            <a:ext cx="6321300" cy="3703500"/>
          </a:xfrm>
          <a:prstGeom prst="rect">
            <a:avLst/>
          </a:prstGeom>
          <a:noFill/>
          <a:ln w="28575" cap="flat" cmpd="sng">
            <a:solidFill>
              <a:srgbClr val="40322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03228"/>
              </a:solidFill>
            </a:endParaRPr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2105050" y="720000"/>
            <a:ext cx="4933800" cy="3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SzPts val="2400"/>
              <a:buChar char="✣"/>
              <a:defRPr i="1"/>
            </a:lvl1pPr>
            <a:lvl2pPr marL="914400" lvl="1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⨳"/>
              <a:defRPr i="1"/>
            </a:lvl2pPr>
            <a:lvl3pPr marL="1371600" lvl="2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i="1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i="1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i="1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i="1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i="1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i="1"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i="1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✣"/>
              <a:defRPr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⨳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cxnSp>
        <p:nvCxnSpPr>
          <p:cNvPr id="22" name="Google Shape;22;p5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961200" y="1552350"/>
            <a:ext cx="2307000" cy="32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✣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⨳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2"/>
          </p:nvPr>
        </p:nvSpPr>
        <p:spPr>
          <a:xfrm>
            <a:off x="3386413" y="1552350"/>
            <a:ext cx="2307000" cy="32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✣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⨳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3"/>
          </p:nvPr>
        </p:nvSpPr>
        <p:spPr>
          <a:xfrm>
            <a:off x="5811626" y="1552350"/>
            <a:ext cx="2307000" cy="32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✣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⨳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cxnSp>
        <p:nvCxnSpPr>
          <p:cNvPr id="35" name="Google Shape;35;p7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cxnSp>
        <p:nvCxnSpPr>
          <p:cNvPr id="39" name="Google Shape;39;p8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200"/>
              <a:buFont typeface="Cinzel"/>
              <a:buNone/>
              <a:defRPr sz="1200" b="1">
                <a:latin typeface="Cinzel"/>
                <a:ea typeface="Cinzel"/>
                <a:cs typeface="Cinzel"/>
                <a:sym typeface="Cinzel"/>
              </a:defRPr>
            </a:lvl1pPr>
          </a:lstStyle>
          <a:p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4279500" y="413795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Cinzel"/>
                <a:ea typeface="Cinzel"/>
                <a:cs typeface="Cinzel"/>
                <a:sym typeface="Cinzel"/>
              </a:defRPr>
            </a:lvl1pPr>
            <a:lvl2pPr lvl="1">
              <a:buNone/>
              <a:defRPr>
                <a:latin typeface="Cinzel"/>
                <a:ea typeface="Cinzel"/>
                <a:cs typeface="Cinzel"/>
                <a:sym typeface="Cinzel"/>
              </a:defRPr>
            </a:lvl2pPr>
            <a:lvl3pPr lvl="2">
              <a:buNone/>
              <a:defRPr>
                <a:latin typeface="Cinzel"/>
                <a:ea typeface="Cinzel"/>
                <a:cs typeface="Cinzel"/>
                <a:sym typeface="Cinzel"/>
              </a:defRPr>
            </a:lvl3pPr>
            <a:lvl4pPr lvl="3">
              <a:buNone/>
              <a:defRPr>
                <a:latin typeface="Cinzel"/>
                <a:ea typeface="Cinzel"/>
                <a:cs typeface="Cinzel"/>
                <a:sym typeface="Cinzel"/>
              </a:defRPr>
            </a:lvl4pPr>
            <a:lvl5pPr lvl="4">
              <a:buNone/>
              <a:defRPr>
                <a:latin typeface="Cinzel"/>
                <a:ea typeface="Cinzel"/>
                <a:cs typeface="Cinzel"/>
                <a:sym typeface="Cinzel"/>
              </a:defRPr>
            </a:lvl5pPr>
            <a:lvl6pPr lvl="5">
              <a:buNone/>
              <a:defRPr>
                <a:latin typeface="Cinzel"/>
                <a:ea typeface="Cinzel"/>
                <a:cs typeface="Cinzel"/>
                <a:sym typeface="Cinzel"/>
              </a:defRPr>
            </a:lvl6pPr>
            <a:lvl7pPr lvl="6">
              <a:buNone/>
              <a:defRPr>
                <a:latin typeface="Cinzel"/>
                <a:ea typeface="Cinzel"/>
                <a:cs typeface="Cinzel"/>
                <a:sym typeface="Cinzel"/>
              </a:defRPr>
            </a:lvl7pPr>
            <a:lvl8pPr lvl="7">
              <a:buNone/>
              <a:defRPr>
                <a:latin typeface="Cinzel"/>
                <a:ea typeface="Cinzel"/>
                <a:cs typeface="Cinzel"/>
                <a:sym typeface="Cinzel"/>
              </a:defRPr>
            </a:lvl8pPr>
            <a:lvl9pPr lvl="8">
              <a:buNone/>
              <a:defRPr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Libre Baskerville"/>
              <a:buChar char="✣"/>
              <a:defRPr sz="24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000"/>
              <a:buFont typeface="Libre Baskerville"/>
              <a:buChar char="⨳"/>
              <a:defRPr sz="20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000"/>
              <a:buFont typeface="Libre Baskerville"/>
              <a:buChar char="■"/>
              <a:defRPr sz="20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●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○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■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●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○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■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ctrTitle"/>
          </p:nvPr>
        </p:nvSpPr>
        <p:spPr>
          <a:xfrm>
            <a:off x="4373250" y="1411950"/>
            <a:ext cx="39441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/>
              <a:t>MANTO</a:t>
            </a:r>
            <a:endParaRPr sz="6000" b="1"/>
          </a:p>
        </p:txBody>
      </p:sp>
      <p:sp>
        <p:nvSpPr>
          <p:cNvPr id="58" name="Google Shape;58;p12"/>
          <p:cNvSpPr txBox="1"/>
          <p:nvPr/>
        </p:nvSpPr>
        <p:spPr>
          <a:xfrm>
            <a:off x="5181000" y="2773325"/>
            <a:ext cx="2328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inzel"/>
                <a:ea typeface="Cinzel"/>
                <a:cs typeface="Cinzel"/>
                <a:sym typeface="Cinzel"/>
              </a:rPr>
              <a:t>Janhavi Ghogare</a:t>
            </a:r>
            <a:endParaRPr b="1">
              <a:latin typeface="Cinzel"/>
              <a:ea typeface="Cinzel"/>
              <a:cs typeface="Cinzel"/>
              <a:sym typeface="Cinze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inzel"/>
                <a:ea typeface="Cinzel"/>
                <a:cs typeface="Cinzel"/>
                <a:sym typeface="Cinzel"/>
              </a:rPr>
              <a:t>Divyansh Kothari</a:t>
            </a:r>
            <a:endParaRPr b="1">
              <a:latin typeface="Cinzel"/>
              <a:ea typeface="Cinzel"/>
              <a:cs typeface="Cinzel"/>
              <a:sym typeface="Cinze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inzel"/>
                <a:ea typeface="Cinzel"/>
                <a:cs typeface="Cinzel"/>
                <a:sym typeface="Cinzel"/>
              </a:rPr>
              <a:t>Vasu Kashiv</a:t>
            </a:r>
            <a:endParaRPr b="1">
              <a:latin typeface="Cinzel"/>
              <a:ea typeface="Cinzel"/>
              <a:cs typeface="Cinzel"/>
              <a:sym typeface="Cinze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inzel"/>
                <a:ea typeface="Cinzel"/>
                <a:cs typeface="Cinzel"/>
                <a:sym typeface="Cinzel"/>
              </a:rPr>
              <a:t>Abya Singh</a:t>
            </a:r>
            <a:endParaRPr b="1">
              <a:latin typeface="Cinzel"/>
              <a:ea typeface="Cinzel"/>
              <a:cs typeface="Cinzel"/>
              <a:sym typeface="Cinzel"/>
            </a:endParaRPr>
          </a:p>
        </p:txBody>
      </p:sp>
      <p:pic>
        <p:nvPicPr>
          <p:cNvPr id="59" name="Google Shape;5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051"/>
            <a:ext cx="365723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105050" y="720000"/>
            <a:ext cx="4933800" cy="3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PART 1: Manto’s life and literary works in Bombay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291700" cy="12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Work, belief, and literary artworks</a:t>
            </a:r>
            <a:endParaRPr b="1"/>
          </a:p>
        </p:txBody>
      </p:sp>
      <p:sp>
        <p:nvSpPr>
          <p:cNvPr id="70" name="Google Shape;70;p14"/>
          <p:cNvSpPr txBox="1"/>
          <p:nvPr/>
        </p:nvSpPr>
        <p:spPr>
          <a:xfrm>
            <a:off x="0" y="1549825"/>
            <a:ext cx="5635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Char char="●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Controversial figure of his time, known for his frank and unflinching portrayal of dark and taboo aspects of Indian.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5550" y="0"/>
            <a:ext cx="3508449" cy="22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0" y="2771025"/>
            <a:ext cx="85131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Char char="●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‘Dus rupay ki note’ - optimistic and hopeful story revolving around a young female prostitute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Char char="●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‘Sau Watt ka Bulb’ - calls out the dark side of the society standing up for women who are forced into prostitution.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should writing be?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664225" y="1477750"/>
            <a:ext cx="7682700" cy="3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Should truth be depicted so harshly that it fails the purpose of reaching an audience with the power it needs to?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Does a good writer write the truth or what the society needs as of that era….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2105050" y="720000"/>
            <a:ext cx="4933800" cy="3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PART 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2105050" y="720000"/>
            <a:ext cx="4933800" cy="3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Partition -&gt; Transition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/>
              <a:t>Mughal empire 	and 	delhi sultanate </a:t>
            </a:r>
            <a:endParaRPr sz="1800"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13" y="152400"/>
            <a:ext cx="3881675" cy="389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325" y="185775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0175" y="152425"/>
            <a:ext cx="239077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4325" y="3098200"/>
            <a:ext cx="24669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0175" y="3098200"/>
            <a:ext cx="2344050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>
            <a:spLocks noGrp="1"/>
          </p:cNvSpPr>
          <p:nvPr>
            <p:ph type="body" idx="4294967295"/>
          </p:nvPr>
        </p:nvSpPr>
        <p:spPr>
          <a:xfrm>
            <a:off x="2105775" y="2275400"/>
            <a:ext cx="47682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rPr>
              <a:t>RIOTS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2105050" y="720000"/>
            <a:ext cx="4933800" cy="3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Transitions that Partition brought in Manto’s Life!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key points in his transition phase</a:t>
            </a:r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body" idx="1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✣"/>
            </a:pPr>
            <a:r>
              <a:rPr lang="en" sz="1700" i="1"/>
              <a:t>Lost his well reputed position which he had built over the years</a:t>
            </a:r>
            <a:endParaRPr sz="1700" i="1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✣"/>
            </a:pPr>
            <a:r>
              <a:rPr lang="en" sz="1700" i="1"/>
              <a:t>Lost his monetary compensations from a charge of over 2400 Rs per  film to mere 20 Rs per column for a news paper while also losing his status</a:t>
            </a:r>
            <a:endParaRPr sz="1700" i="1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✣"/>
            </a:pPr>
            <a:r>
              <a:rPr lang="en" sz="1700" i="1"/>
              <a:t>During his work in a relief camp he came across a case of case of women being tortured which became the basis of his next masterpiece ‘Khol-Do’ describing the plight and cruelty over women during partition and riots</a:t>
            </a:r>
            <a:endParaRPr sz="1700" i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>
            <a:spLocks noGrp="1"/>
          </p:cNvSpPr>
          <p:nvPr>
            <p:ph type="body" idx="1"/>
          </p:nvPr>
        </p:nvSpPr>
        <p:spPr>
          <a:xfrm>
            <a:off x="2105050" y="720000"/>
            <a:ext cx="4933800" cy="3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PART 3: Manto’s Life in Lahore And Effects of Partition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Manto’s literature and Recognition</a:t>
            </a:r>
            <a:endParaRPr/>
          </a:p>
        </p:txBody>
      </p:sp>
      <p:sp>
        <p:nvSpPr>
          <p:cNvPr id="185" name="Google Shape;185;p31"/>
          <p:cNvSpPr txBox="1">
            <a:spLocks noGrp="1"/>
          </p:cNvSpPr>
          <p:nvPr>
            <p:ph type="body" idx="1"/>
          </p:nvPr>
        </p:nvSpPr>
        <p:spPr>
          <a:xfrm>
            <a:off x="1053450" y="1477750"/>
            <a:ext cx="7037100" cy="3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600"/>
              </a:spcBef>
              <a:spcAft>
                <a:spcPts val="0"/>
              </a:spcAft>
              <a:buSzPts val="1700"/>
              <a:buChar char="✣"/>
            </a:pPr>
            <a:r>
              <a:rPr lang="en" sz="1700"/>
              <a:t>His fame and prominence fades away as he lands in Lahore.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✣"/>
            </a:pPr>
            <a:r>
              <a:rPr lang="en" sz="1700"/>
              <a:t>Struggles to find settled work and publishers for his Literary works.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✣"/>
            </a:pPr>
            <a:r>
              <a:rPr lang="en" sz="1700"/>
              <a:t>His brushes with the legal system and an increasingly unsupportive publishing industry tailspined him.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✣"/>
            </a:pPr>
            <a:r>
              <a:rPr lang="en" sz="1700"/>
              <a:t>Faces legal charges on one of his most popular works “Thanda Ghosth” due to obscenity and profanity.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✣"/>
            </a:pPr>
            <a:r>
              <a:rPr lang="en" sz="1700"/>
              <a:t>Yet he remained an unstoppable force of nature who relentlessly chased the truth no matter the obstacles.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Personal State of Mind</a:t>
            </a:r>
            <a:endParaRPr sz="3000"/>
          </a:p>
        </p:txBody>
      </p:sp>
      <p:sp>
        <p:nvSpPr>
          <p:cNvPr id="191" name="Google Shape;191;p32"/>
          <p:cNvSpPr txBox="1">
            <a:spLocks noGrp="1"/>
          </p:cNvSpPr>
          <p:nvPr>
            <p:ph type="body" idx="1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✣"/>
            </a:pPr>
            <a:r>
              <a:rPr lang="en" sz="1800">
                <a:solidFill>
                  <a:schemeClr val="dk1"/>
                </a:solidFill>
              </a:rPr>
              <a:t>A despondent and nostalgic state of mind.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✣"/>
            </a:pPr>
            <a:r>
              <a:rPr lang="en" sz="1800">
                <a:solidFill>
                  <a:schemeClr val="dk1"/>
                </a:solidFill>
              </a:rPr>
              <a:t>A constant yearning for his homeland-Bombay.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✣"/>
            </a:pPr>
            <a:r>
              <a:rPr lang="en" sz="1800">
                <a:solidFill>
                  <a:schemeClr val="dk1"/>
                </a:solidFill>
              </a:rPr>
              <a:t>The striking change in his tone of writing is    comparable with his impassive life and surrounding.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✣"/>
            </a:pPr>
            <a:r>
              <a:rPr lang="en" sz="1800">
                <a:solidFill>
                  <a:schemeClr val="dk1"/>
                </a:solidFill>
              </a:rPr>
              <a:t>The devastating “Khol-Do”, controversial “Thanda Ghosth”, and classical “Toba Tek Singh”-all look at devastating repercussions of Partition. </a:t>
            </a:r>
            <a:endParaRPr sz="1800">
              <a:solidFill>
                <a:schemeClr val="dk1"/>
              </a:solidFill>
            </a:endParaRPr>
          </a:p>
          <a:p>
            <a:pPr marL="3429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Mind</a:t>
            </a:r>
            <a:endParaRPr/>
          </a:p>
        </p:txBody>
      </p:sp>
      <p:sp>
        <p:nvSpPr>
          <p:cNvPr id="197" name="Google Shape;197;p33"/>
          <p:cNvSpPr txBox="1">
            <a:spLocks noGrp="1"/>
          </p:cNvSpPr>
          <p:nvPr>
            <p:ph type="body" idx="1"/>
          </p:nvPr>
        </p:nvSpPr>
        <p:spPr>
          <a:xfrm>
            <a:off x="1224425" y="1477750"/>
            <a:ext cx="6784800" cy="3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✣"/>
            </a:pPr>
            <a:r>
              <a:rPr lang="en" sz="1800">
                <a:solidFill>
                  <a:schemeClr val="dk1"/>
                </a:solidFill>
              </a:rPr>
              <a:t>He envisaged partition and freedom as visionless-describing his state as one of a bird with clipped wings.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✣"/>
            </a:pPr>
            <a:r>
              <a:rPr lang="en" sz="1800">
                <a:solidFill>
                  <a:schemeClr val="dk1"/>
                </a:solidFill>
              </a:rPr>
              <a:t>Faces separation and disjunction from his family due to his ill-state of mind.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✣"/>
            </a:pPr>
            <a:r>
              <a:rPr lang="en" sz="1800">
                <a:solidFill>
                  <a:schemeClr val="dk1"/>
                </a:solidFill>
              </a:rPr>
              <a:t>The inevitable friendship between him and Shyam Chadda continues even after separated states.</a:t>
            </a:r>
            <a:endParaRPr sz="1800">
              <a:solidFill>
                <a:schemeClr val="dk1"/>
              </a:solidFill>
            </a:endParaRPr>
          </a:p>
          <a:p>
            <a:pPr marL="3429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2105050" y="720000"/>
            <a:ext cx="4933800" cy="3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PART 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>
            <a:spLocks noGrp="1"/>
          </p:cNvSpPr>
          <p:nvPr>
            <p:ph type="body" idx="1"/>
          </p:nvPr>
        </p:nvSpPr>
        <p:spPr>
          <a:xfrm>
            <a:off x="2105050" y="643800"/>
            <a:ext cx="4933800" cy="3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Loss of emotional support along with financial hardships and severe addiction</a:t>
            </a:r>
            <a:endParaRPr sz="2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1887900" y="331700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Cinzel SemiBold"/>
                <a:ea typeface="Cinzel SemiBold"/>
                <a:cs typeface="Cinzel SemiBold"/>
                <a:sym typeface="Cinzel SemiBold"/>
              </a:rPr>
              <a:t>HIS FINANCIAL CONDITION</a:t>
            </a:r>
            <a:endParaRPr sz="2700">
              <a:latin typeface="Cinzel SemiBold"/>
              <a:ea typeface="Cinzel SemiBold"/>
              <a:cs typeface="Cinzel SemiBold"/>
              <a:sym typeface="Cinzel SemiBold"/>
            </a:endParaRPr>
          </a:p>
        </p:txBody>
      </p:sp>
      <p:sp>
        <p:nvSpPr>
          <p:cNvPr id="225" name="Google Shape;225;p37"/>
          <p:cNvSpPr txBox="1">
            <a:spLocks noGrp="1"/>
          </p:cNvSpPr>
          <p:nvPr>
            <p:ph type="body" idx="1"/>
          </p:nvPr>
        </p:nvSpPr>
        <p:spPr>
          <a:xfrm>
            <a:off x="1224425" y="1730500"/>
            <a:ext cx="6695100" cy="31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Lost in the trial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Late payments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Reduced pay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Refused to accept money from his friend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Sick children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Alcohol and smoking addiction</a:t>
            </a:r>
            <a:endParaRPr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Unhealthy Addiction</a:t>
            </a:r>
            <a:endParaRPr sz="2600" b="1"/>
          </a:p>
        </p:txBody>
      </p:sp>
      <p:sp>
        <p:nvSpPr>
          <p:cNvPr id="231" name="Google Shape;231;p38"/>
          <p:cNvSpPr txBox="1">
            <a:spLocks noGrp="1"/>
          </p:cNvSpPr>
          <p:nvPr>
            <p:ph type="body" idx="1"/>
          </p:nvPr>
        </p:nvSpPr>
        <p:spPr>
          <a:xfrm>
            <a:off x="1224450" y="1970525"/>
            <a:ext cx="6695100" cy="28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His drinking habits turn from bad to worse after the trial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Retorts to alcohol and smoking to escape reality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‘It keeps me alive’</a:t>
            </a:r>
            <a:endParaRPr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Toba tek singh</a:t>
            </a:r>
            <a:endParaRPr sz="2600" b="1"/>
          </a:p>
        </p:txBody>
      </p:sp>
      <p:sp>
        <p:nvSpPr>
          <p:cNvPr id="237" name="Google Shape;237;p39"/>
          <p:cNvSpPr txBox="1">
            <a:spLocks noGrp="1"/>
          </p:cNvSpPr>
          <p:nvPr>
            <p:ph type="body" idx="1"/>
          </p:nvPr>
        </p:nvSpPr>
        <p:spPr>
          <a:xfrm>
            <a:off x="1224450" y="1684800"/>
            <a:ext cx="6695100" cy="28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Writes his final story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The main character in his narrative seems to be helpless, and shattered due to partition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✣"/>
            </a:pPr>
            <a:r>
              <a:rPr lang="en" sz="2200"/>
              <a:t>His situation can be compared to that of Manto who has lost everything and is on the verge of collapse</a:t>
            </a:r>
            <a:endParaRPr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body" idx="1"/>
          </p:nvPr>
        </p:nvSpPr>
        <p:spPr>
          <a:xfrm>
            <a:off x="1224450" y="1106525"/>
            <a:ext cx="6695100" cy="3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926940"/>
                </a:solidFill>
              </a:rPr>
              <a:t>THANK YOU!</a:t>
            </a:r>
            <a:endParaRPr sz="4700">
              <a:solidFill>
                <a:srgbClr val="92694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labella template">
  <a:themeElements>
    <a:clrScheme name="Custom 347">
      <a:dk1>
        <a:srgbClr val="403228"/>
      </a:dk1>
      <a:lt1>
        <a:srgbClr val="FFFFFF"/>
      </a:lt1>
      <a:dk2>
        <a:srgbClr val="926940"/>
      </a:dk2>
      <a:lt2>
        <a:srgbClr val="F3EFEA"/>
      </a:lt2>
      <a:accent1>
        <a:srgbClr val="261408"/>
      </a:accent1>
      <a:accent2>
        <a:srgbClr val="8E5025"/>
      </a:accent2>
      <a:accent3>
        <a:srgbClr val="B68C68"/>
      </a:accent3>
      <a:accent4>
        <a:srgbClr val="E8DAC2"/>
      </a:accent4>
      <a:accent5>
        <a:srgbClr val="8E2525"/>
      </a:accent5>
      <a:accent6>
        <a:srgbClr val="B67068"/>
      </a:accent6>
      <a:hlink>
        <a:srgbClr val="40322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Microsoft Office PowerPoint</Application>
  <PresentationFormat>On-screen Show (16:9)</PresentationFormat>
  <Paragraphs>62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Cinzel</vt:lpstr>
      <vt:lpstr>Cinzel SemiBold</vt:lpstr>
      <vt:lpstr>Arial</vt:lpstr>
      <vt:lpstr>Montserrat</vt:lpstr>
      <vt:lpstr>Libre Baskerville</vt:lpstr>
      <vt:lpstr>Dolabella template</vt:lpstr>
      <vt:lpstr>MANTO</vt:lpstr>
      <vt:lpstr>PowerPoint Presentation</vt:lpstr>
      <vt:lpstr>Work, belief, and literary artworks</vt:lpstr>
      <vt:lpstr>How should writing be?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key points in his transition phase</vt:lpstr>
      <vt:lpstr>PowerPoint Presentation</vt:lpstr>
      <vt:lpstr>Manto’s literature and Recognition</vt:lpstr>
      <vt:lpstr>Personal State of Mind</vt:lpstr>
      <vt:lpstr>State of Mind</vt:lpstr>
      <vt:lpstr>PowerPoint Presentation</vt:lpstr>
      <vt:lpstr>PowerPoint Presentation</vt:lpstr>
      <vt:lpstr>HIS FINANCIAL CONDITION</vt:lpstr>
      <vt:lpstr>Unhealthy Addiction</vt:lpstr>
      <vt:lpstr>Toba tek singh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MANTO</dc:title>
  <cp:lastModifiedBy>Microsoft account</cp:lastModifiedBy>
  <cp:revision>1</cp:revision>
  <dcterms:modified xsi:type="dcterms:W3CDTF">2025-04-29T21:03:15Z</dcterms:modified>
</cp:coreProperties>
</file>